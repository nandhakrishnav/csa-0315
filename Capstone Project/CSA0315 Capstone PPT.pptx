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75" r:id="rId5"/>
    <p:sldId id="258" r:id="rId6"/>
    <p:sldId id="260" r:id="rId7"/>
    <p:sldId id="261" r:id="rId8"/>
    <p:sldId id="264" r:id="rId9"/>
    <p:sldId id="267" r:id="rId10"/>
    <p:sldId id="273" r:id="rId11"/>
    <p:sldId id="276" r:id="rId12"/>
    <p:sldId id="270" r:id="rId13"/>
    <p:sldId id="271" r:id="rId14"/>
    <p:sldId id="274" r:id="rId15"/>
    <p:sldId id="27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4F7BD0-F4F1-4ECB-804F-CAF1AAC0E39B}" v="6" dt="2026-08-27T09:20:54.0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2" autoAdjust="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74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NDHA KRISHNA V" userId="18c0e9e499a38ca1" providerId="LiveId" clId="{5DE343E6-84BD-44B5-85F3-EBB309D54108}"/>
    <pc:docChg chg="undo custSel addSld delSld modSld sldOrd">
      <pc:chgData name="NANDHA KRISHNA V" userId="18c0e9e499a38ca1" providerId="LiveId" clId="{5DE343E6-84BD-44B5-85F3-EBB309D54108}" dt="2026-08-27T09:22:04.636" v="112" actId="5793"/>
      <pc:docMkLst>
        <pc:docMk/>
      </pc:docMkLst>
      <pc:sldChg chg="ord">
        <pc:chgData name="NANDHA KRISHNA V" userId="18c0e9e499a38ca1" providerId="LiveId" clId="{5DE343E6-84BD-44B5-85F3-EBB309D54108}" dt="2026-08-27T09:12:35.717" v="1"/>
        <pc:sldMkLst>
          <pc:docMk/>
          <pc:sldMk cId="0" sldId="258"/>
        </pc:sldMkLst>
      </pc:sldChg>
      <pc:sldChg chg="delSp modSp mod">
        <pc:chgData name="NANDHA KRISHNA V" userId="18c0e9e499a38ca1" providerId="LiveId" clId="{5DE343E6-84BD-44B5-85F3-EBB309D54108}" dt="2026-08-27T09:15:42.923" v="45"/>
        <pc:sldMkLst>
          <pc:docMk/>
          <pc:sldMk cId="0" sldId="270"/>
        </pc:sldMkLst>
        <pc:spChg chg="del mod">
          <ac:chgData name="NANDHA KRISHNA V" userId="18c0e9e499a38ca1" providerId="LiveId" clId="{5DE343E6-84BD-44B5-85F3-EBB309D54108}" dt="2026-08-27T09:15:42.923" v="45"/>
          <ac:spMkLst>
            <pc:docMk/>
            <pc:sldMk cId="0" sldId="270"/>
            <ac:spMk id="5" creationId="{00000000-0000-0000-0000-000000000000}"/>
          </ac:spMkLst>
        </pc:spChg>
      </pc:sldChg>
      <pc:sldChg chg="addSp modSp mod">
        <pc:chgData name="NANDHA KRISHNA V" userId="18c0e9e499a38ca1" providerId="LiveId" clId="{5DE343E6-84BD-44B5-85F3-EBB309D54108}" dt="2026-08-27T09:15:31.231" v="42" actId="1076"/>
        <pc:sldMkLst>
          <pc:docMk/>
          <pc:sldMk cId="996610397" sldId="273"/>
        </pc:sldMkLst>
        <pc:spChg chg="add mod">
          <ac:chgData name="NANDHA KRISHNA V" userId="18c0e9e499a38ca1" providerId="LiveId" clId="{5DE343E6-84BD-44B5-85F3-EBB309D54108}" dt="2026-08-27T09:15:31.231" v="42" actId="1076"/>
          <ac:spMkLst>
            <pc:docMk/>
            <pc:sldMk cId="996610397" sldId="273"/>
            <ac:spMk id="3" creationId="{EB835C50-6632-9D35-7DBD-A5CCA10CB6EA}"/>
          </ac:spMkLst>
        </pc:spChg>
      </pc:sldChg>
      <pc:sldChg chg="addSp modSp mod">
        <pc:chgData name="NANDHA KRISHNA V" userId="18c0e9e499a38ca1" providerId="LiveId" clId="{5DE343E6-84BD-44B5-85F3-EBB309D54108}" dt="2026-08-27T09:22:04.636" v="112" actId="5793"/>
        <pc:sldMkLst>
          <pc:docMk/>
          <pc:sldMk cId="2035284475" sldId="274"/>
        </pc:sldMkLst>
        <pc:spChg chg="add mod">
          <ac:chgData name="NANDHA KRISHNA V" userId="18c0e9e499a38ca1" providerId="LiveId" clId="{5DE343E6-84BD-44B5-85F3-EBB309D54108}" dt="2026-08-27T09:22:04.636" v="112" actId="5793"/>
          <ac:spMkLst>
            <pc:docMk/>
            <pc:sldMk cId="2035284475" sldId="274"/>
            <ac:spMk id="2" creationId="{9AA1DEA9-36A9-2136-E6D5-3882A4077945}"/>
          </ac:spMkLst>
        </pc:spChg>
      </pc:sldChg>
      <pc:sldChg chg="addSp modSp new mod">
        <pc:chgData name="NANDHA KRISHNA V" userId="18c0e9e499a38ca1" providerId="LiveId" clId="{5DE343E6-84BD-44B5-85F3-EBB309D54108}" dt="2026-08-27T09:20:34.555" v="68" actId="1076"/>
        <pc:sldMkLst>
          <pc:docMk/>
          <pc:sldMk cId="2706211144" sldId="275"/>
        </pc:sldMkLst>
        <pc:spChg chg="add mod">
          <ac:chgData name="NANDHA KRISHNA V" userId="18c0e9e499a38ca1" providerId="LiveId" clId="{5DE343E6-84BD-44B5-85F3-EBB309D54108}" dt="2026-08-27T09:13:52.048" v="19" actId="1076"/>
          <ac:spMkLst>
            <pc:docMk/>
            <pc:sldMk cId="2706211144" sldId="275"/>
            <ac:spMk id="4" creationId="{3395C106-2653-DD4F-D0A0-CBD8B38C7F95}"/>
          </ac:spMkLst>
        </pc:spChg>
        <pc:spChg chg="add mod">
          <ac:chgData name="NANDHA KRISHNA V" userId="18c0e9e499a38ca1" providerId="LiveId" clId="{5DE343E6-84BD-44B5-85F3-EBB309D54108}" dt="2026-08-27T09:20:34.555" v="68" actId="1076"/>
          <ac:spMkLst>
            <pc:docMk/>
            <pc:sldMk cId="2706211144" sldId="275"/>
            <ac:spMk id="5" creationId="{B726D084-9069-7ACC-A4DB-0F4916229657}"/>
          </ac:spMkLst>
        </pc:spChg>
        <pc:picChg chg="add">
          <ac:chgData name="NANDHA KRISHNA V" userId="18c0e9e499a38ca1" providerId="LiveId" clId="{5DE343E6-84BD-44B5-85F3-EBB309D54108}" dt="2026-08-27T09:12:59.647" v="3" actId="22"/>
          <ac:picMkLst>
            <pc:docMk/>
            <pc:sldMk cId="2706211144" sldId="275"/>
            <ac:picMk id="3" creationId="{F96AF751-48F6-C91C-B44C-34BB6E479976}"/>
          </ac:picMkLst>
        </pc:picChg>
      </pc:sldChg>
      <pc:sldChg chg="new del">
        <pc:chgData name="NANDHA KRISHNA V" userId="18c0e9e499a38ca1" providerId="LiveId" clId="{5DE343E6-84BD-44B5-85F3-EBB309D54108}" dt="2026-08-27T09:14:35.327" v="21" actId="47"/>
        <pc:sldMkLst>
          <pc:docMk/>
          <pc:sldMk cId="3829260438" sldId="27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95" y="249631"/>
            <a:ext cx="8311896" cy="1109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4708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Times New Roman"/>
              </a:rPr>
              <a:t>EMERGENCY ROOM PRIORITY HANDLING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23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Times New Roman"/>
              </a:rPr>
              <a:t>USING HEAPS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Times New Roman"/>
              </a:rPr>
              <a:t>A CAPSTONE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03320"/>
            <a:ext cx="1124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000000"/>
                </a:solidFill>
                <a:latin typeface="Times New Roman"/>
              </a:rPr>
              <a:t>CSA0</a:t>
            </a:r>
            <a:r>
              <a:rPr lang="en-US" sz="2000" b="1" dirty="0">
                <a:solidFill>
                  <a:srgbClr val="000000"/>
                </a:solidFill>
                <a:latin typeface="Times New Roman"/>
              </a:rPr>
              <a:t>315</a:t>
            </a:r>
            <a:r>
              <a:rPr sz="2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Times New Roman"/>
              </a:rPr>
              <a:t>DATA STRUCTURES</a:t>
            </a:r>
            <a:endParaRPr sz="20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4709160"/>
            <a:ext cx="4754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000000"/>
                </a:solidFill>
                <a:latin typeface="Times New Roman"/>
              </a:rPr>
              <a:t>Supervisor
Dr. </a:t>
            </a:r>
            <a:r>
              <a:rPr lang="en-US" b="1" dirty="0">
                <a:solidFill>
                  <a:srgbClr val="000000"/>
                </a:solidFill>
                <a:latin typeface="Times New Roman"/>
              </a:rPr>
              <a:t>T Rajesh Kumar </a:t>
            </a:r>
            <a:r>
              <a:rPr sz="1800" b="1" dirty="0">
                <a:solidFill>
                  <a:srgbClr val="000000"/>
                </a:solidFill>
                <a:latin typeface="Times New Roman"/>
              </a:rPr>
              <a:t>,
Professor, Department of CSE,
Saveetha School of Engineering.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4709160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000000"/>
                </a:solidFill>
                <a:latin typeface="Times New Roman"/>
              </a:rPr>
              <a:t>PRESENTED B</a:t>
            </a:r>
            <a:r>
              <a:rPr lang="en-US" b="1" dirty="0">
                <a:solidFill>
                  <a:srgbClr val="000000"/>
                </a:solidFill>
                <a:latin typeface="Times New Roman"/>
              </a:rPr>
              <a:t>Y</a:t>
            </a:r>
            <a:r>
              <a:rPr sz="1800" b="1" dirty="0">
                <a:solidFill>
                  <a:srgbClr val="000000"/>
                </a:solidFill>
                <a:latin typeface="Times New Roman"/>
              </a:rPr>
              <a:t>
D. HOSHEA PAUL (192471019)</a:t>
            </a:r>
            <a:endParaRPr lang="en-US" sz="1800" b="1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lang="en-IN" sz="1800" b="1" dirty="0">
                <a:solidFill>
                  <a:srgbClr val="000000"/>
                </a:solidFill>
                <a:latin typeface="Times New Roman"/>
              </a:rPr>
              <a:t>NANDHA KRISHNA V (192524012)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95" y="249631"/>
            <a:ext cx="8311896" cy="1109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481328"/>
            <a:ext cx="11567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Times New Roman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240280"/>
            <a:ext cx="6629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Registers emergency-room patients and assigns priority from emergency level.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Stores patient records in a heap-based priority queue for efficient scheduling.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Highest-priority patients are selected first and removed after treatment.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Maintains waiting-list updates, treatment status, statistics, and daily reports.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Includes three modules covering registration, heap scheduling, and treatment/reporting.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2148840"/>
            <a:ext cx="41148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16367" y="2240280"/>
            <a:ext cx="3895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5399"/>
                </a:solidFill>
                <a:latin typeface="Times New Roman"/>
              </a:rPr>
              <a:t>PATIENT ENTRY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2587752"/>
            <a:ext cx="38404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Patient ID • Age • Symptoms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310128"/>
            <a:ext cx="41148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16367" y="3401568"/>
            <a:ext cx="3895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5399"/>
                </a:solidFill>
                <a:latin typeface="Times New Roman"/>
              </a:rPr>
              <a:t>PRIORITY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3749039"/>
            <a:ext cx="38404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Emergency level → Heap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4462272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5399"/>
                </a:solidFill>
                <a:latin typeface="Times New Roman"/>
              </a:rPr>
              <a:t>MAX-HEAP PRIORITY QUEUE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8401050" y="5010912"/>
            <a:ext cx="1040130" cy="462686"/>
          </a:xfrm>
          <a:prstGeom prst="line">
            <a:avLst/>
          </a:prstGeom>
          <a:ln>
            <a:solidFill>
              <a:srgbClr val="1F5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441180" y="5010912"/>
            <a:ext cx="1040130" cy="462686"/>
          </a:xfrm>
          <a:prstGeom prst="line">
            <a:avLst/>
          </a:prstGeom>
          <a:ln>
            <a:solidFill>
              <a:srgbClr val="1F5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860182" y="5473598"/>
            <a:ext cx="540868" cy="473659"/>
          </a:xfrm>
          <a:prstGeom prst="line">
            <a:avLst/>
          </a:prstGeom>
          <a:ln>
            <a:solidFill>
              <a:srgbClr val="1F5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401050" y="5473598"/>
            <a:ext cx="540867" cy="473659"/>
          </a:xfrm>
          <a:prstGeom prst="line">
            <a:avLst/>
          </a:prstGeom>
          <a:ln>
            <a:solidFill>
              <a:srgbClr val="1F5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9940442" y="5473598"/>
            <a:ext cx="540868" cy="473659"/>
          </a:xfrm>
          <a:prstGeom prst="line">
            <a:avLst/>
          </a:prstGeom>
          <a:ln>
            <a:solidFill>
              <a:srgbClr val="1F5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481310" y="5473598"/>
            <a:ext cx="540867" cy="473659"/>
          </a:xfrm>
          <a:prstGeom prst="line">
            <a:avLst/>
          </a:prstGeom>
          <a:ln>
            <a:solidFill>
              <a:srgbClr val="1F5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230868" y="4800599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0868" y="4873751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1</a:t>
            </a:r>
          </a:p>
        </p:txBody>
      </p:sp>
      <p:sp>
        <p:nvSpPr>
          <p:cNvPr id="20" name="Oval 19"/>
          <p:cNvSpPr/>
          <p:nvPr/>
        </p:nvSpPr>
        <p:spPr>
          <a:xfrm>
            <a:off x="8190738" y="5263286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90738" y="533643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22" name="Oval 21"/>
          <p:cNvSpPr/>
          <p:nvPr/>
        </p:nvSpPr>
        <p:spPr>
          <a:xfrm>
            <a:off x="10270998" y="5263286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70998" y="533643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3</a:t>
            </a:r>
          </a:p>
        </p:txBody>
      </p:sp>
      <p:sp>
        <p:nvSpPr>
          <p:cNvPr id="24" name="Oval 23"/>
          <p:cNvSpPr/>
          <p:nvPr/>
        </p:nvSpPr>
        <p:spPr>
          <a:xfrm>
            <a:off x="7649870" y="5736945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49870" y="5810097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4</a:t>
            </a:r>
          </a:p>
        </p:txBody>
      </p:sp>
      <p:sp>
        <p:nvSpPr>
          <p:cNvPr id="26" name="Oval 25"/>
          <p:cNvSpPr/>
          <p:nvPr/>
        </p:nvSpPr>
        <p:spPr>
          <a:xfrm>
            <a:off x="8731605" y="5736945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31605" y="5810097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  <p:sp>
        <p:nvSpPr>
          <p:cNvPr id="28" name="Oval 27"/>
          <p:cNvSpPr/>
          <p:nvPr/>
        </p:nvSpPr>
        <p:spPr>
          <a:xfrm>
            <a:off x="9730130" y="5736945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30130" y="5810097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6</a:t>
            </a:r>
          </a:p>
        </p:txBody>
      </p:sp>
      <p:sp>
        <p:nvSpPr>
          <p:cNvPr id="30" name="Oval 29"/>
          <p:cNvSpPr/>
          <p:nvPr/>
        </p:nvSpPr>
        <p:spPr>
          <a:xfrm>
            <a:off x="10811865" y="5736945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811865" y="5810097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95" y="249631"/>
            <a:ext cx="8311896" cy="1109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481328"/>
            <a:ext cx="11567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Times New Roman"/>
              </a:rPr>
              <a:t>PROBLEM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48840"/>
            <a:ext cx="6629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Times New Roman"/>
              </a:defRPr>
            </a:pPr>
            <a:r>
              <a:t>• Emergency patients cannot be scheduled efficiently using simple FIFO ordering.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Times New Roman"/>
              </a:defRPr>
            </a:pPr>
            <a:r>
              <a:t>• Critical cases must be identified and served before lower-priority cases.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Times New Roman"/>
              </a:defRPr>
            </a:pPr>
            <a:r>
              <a:t>• Manual priority handling can cause incorrect ordering and increased waiting time.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Times New Roman"/>
              </a:defRPr>
            </a:pPr>
            <a:r>
              <a:t>• Patient records, treatment status, waiting lists, and reports must remain consistent.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Times New Roman"/>
              </a:defRPr>
            </a:pPr>
            <a:r>
              <a:t>• A data-structure-based solution is required for fast priority insertion and removal.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4963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5399"/>
                </a:solidFill>
                <a:latin typeface="Times New Roman"/>
              </a:rPr>
              <a:t>MAX-HEAP PRIORITY QUEUE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8343900" y="3044952"/>
            <a:ext cx="1028700" cy="597103"/>
          </a:xfrm>
          <a:prstGeom prst="line">
            <a:avLst/>
          </a:prstGeom>
          <a:ln>
            <a:solidFill>
              <a:srgbClr val="1F5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372600" y="3044952"/>
            <a:ext cx="1028700" cy="597103"/>
          </a:xfrm>
          <a:prstGeom prst="line">
            <a:avLst/>
          </a:prstGeom>
          <a:ln>
            <a:solidFill>
              <a:srgbClr val="1F5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7808975" y="3642055"/>
            <a:ext cx="534925" cy="575157"/>
          </a:xfrm>
          <a:prstGeom prst="line">
            <a:avLst/>
          </a:prstGeom>
          <a:ln>
            <a:solidFill>
              <a:srgbClr val="1F5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343900" y="3642055"/>
            <a:ext cx="534924" cy="575157"/>
          </a:xfrm>
          <a:prstGeom prst="line">
            <a:avLst/>
          </a:prstGeom>
          <a:ln>
            <a:solidFill>
              <a:srgbClr val="1F5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866376" y="3642055"/>
            <a:ext cx="534924" cy="575157"/>
          </a:xfrm>
          <a:prstGeom prst="line">
            <a:avLst/>
          </a:prstGeom>
          <a:ln>
            <a:solidFill>
              <a:srgbClr val="1F5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401300" y="3642055"/>
            <a:ext cx="534924" cy="575157"/>
          </a:xfrm>
          <a:prstGeom prst="line">
            <a:avLst/>
          </a:prstGeom>
          <a:ln>
            <a:solidFill>
              <a:srgbClr val="1F5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162288" y="2834640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62288" y="2907792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8133588" y="3431743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3588" y="3504895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16" name="Oval 15"/>
          <p:cNvSpPr/>
          <p:nvPr/>
        </p:nvSpPr>
        <p:spPr>
          <a:xfrm>
            <a:off x="10190988" y="3431743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190988" y="3504895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3</a:t>
            </a:r>
          </a:p>
        </p:txBody>
      </p:sp>
      <p:sp>
        <p:nvSpPr>
          <p:cNvPr id="18" name="Oval 17"/>
          <p:cNvSpPr/>
          <p:nvPr/>
        </p:nvSpPr>
        <p:spPr>
          <a:xfrm>
            <a:off x="7598663" y="4006900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98663" y="4080052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4</a:t>
            </a:r>
          </a:p>
        </p:txBody>
      </p:sp>
      <p:sp>
        <p:nvSpPr>
          <p:cNvPr id="20" name="Oval 19"/>
          <p:cNvSpPr/>
          <p:nvPr/>
        </p:nvSpPr>
        <p:spPr>
          <a:xfrm>
            <a:off x="8668512" y="4006900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68512" y="4080052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  <p:sp>
        <p:nvSpPr>
          <p:cNvPr id="22" name="Oval 21"/>
          <p:cNvSpPr/>
          <p:nvPr/>
        </p:nvSpPr>
        <p:spPr>
          <a:xfrm>
            <a:off x="9656063" y="4006900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56063" y="4080052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6</a:t>
            </a:r>
          </a:p>
        </p:txBody>
      </p:sp>
      <p:sp>
        <p:nvSpPr>
          <p:cNvPr id="24" name="Oval 23"/>
          <p:cNvSpPr/>
          <p:nvPr/>
        </p:nvSpPr>
        <p:spPr>
          <a:xfrm>
            <a:off x="10725912" y="4006900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25912" y="4080052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5321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5399"/>
                </a:solidFill>
                <a:latin typeface="Times New Roman"/>
              </a:rPr>
              <a:t>Goal: correct treatment order with efficient priority handling.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1.png">
            <a:extLst>
              <a:ext uri="{FF2B5EF4-FFF2-40B4-BE49-F238E27FC236}">
                <a16:creationId xmlns:a16="http://schemas.microsoft.com/office/drawing/2014/main" id="{F96AF751-48F6-C91C-B44C-34BB6E479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95" y="249631"/>
            <a:ext cx="8311896" cy="11096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95C106-2653-DD4F-D0A0-CBD8B38C7F95}"/>
              </a:ext>
            </a:extLst>
          </p:cNvPr>
          <p:cNvSpPr txBox="1"/>
          <p:nvPr/>
        </p:nvSpPr>
        <p:spPr>
          <a:xfrm>
            <a:off x="4310209" y="1614900"/>
            <a:ext cx="3513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26D084-9069-7ACC-A4DB-0F4916229657}"/>
              </a:ext>
            </a:extLst>
          </p:cNvPr>
          <p:cNvSpPr txBox="1"/>
          <p:nvPr/>
        </p:nvSpPr>
        <p:spPr>
          <a:xfrm>
            <a:off x="2413001" y="2594156"/>
            <a:ext cx="8051800" cy="1669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To implement emergency patient scheduling using a Max Heap.</a:t>
            </a:r>
          </a:p>
          <a:p>
            <a:pPr>
              <a:spcBef>
                <a:spcPts val="1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To assign priorities based on medical emergency levels.</a:t>
            </a:r>
          </a:p>
          <a:p>
            <a:pPr>
              <a:spcBef>
                <a:spcPts val="1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To perform efficient priority queue operations.</a:t>
            </a:r>
          </a:p>
          <a:p>
            <a:pPr>
              <a:spcBef>
                <a:spcPts val="1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To implement patient lookup using a Hash Table with Linear Probing.5. To develop a menu-driven Emergency Department system in C.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211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95" y="249631"/>
            <a:ext cx="8311896" cy="1109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481328"/>
            <a:ext cx="11567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Times New Roman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48840"/>
            <a:ext cx="649224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000000"/>
                </a:solidFill>
                <a:latin typeface="Times New Roman"/>
              </a:rPr>
              <a:t>An emergency room must treat patients according to urgency rather than simple arrival order.
A priority queue keeps the most critical patient at the front of the treatment schedule. </a:t>
            </a: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 algn="l"/>
            <a:endParaRPr lang="en-IN" sz="2000" dirty="0">
              <a:solidFill>
                <a:srgbClr val="000000"/>
              </a:solidFill>
              <a:latin typeface="Times New Roman"/>
            </a:endParaRPr>
          </a:p>
          <a:p>
            <a:pPr algn="l"/>
            <a:r>
              <a:rPr sz="2000" b="0" dirty="0">
                <a:solidFill>
                  <a:srgbClr val="000000"/>
                </a:solidFill>
                <a:latin typeface="Times New Roman"/>
              </a:rPr>
              <a:t>This project uses a heap to implement that priority queue and demonstrates registration, priority assignment, scheduling, treatment updates, and reporting through a structured C application.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2103120"/>
            <a:ext cx="40690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16367" y="2194560"/>
            <a:ext cx="3849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5399"/>
                </a:solidFill>
                <a:latin typeface="Times New Roman"/>
              </a:rPr>
              <a:t>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2542032"/>
            <a:ext cx="37947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Patient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246120"/>
            <a:ext cx="40690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16367" y="3337560"/>
            <a:ext cx="3849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5399"/>
                </a:solidFill>
                <a:latin typeface="Times New Roman"/>
              </a:rPr>
              <a:t>PRIORITIZE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3685031"/>
            <a:ext cx="37947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Emergency level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4389120"/>
            <a:ext cx="40690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16367" y="4480559"/>
            <a:ext cx="3849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5399"/>
                </a:solidFill>
                <a:latin typeface="Times New Roman"/>
              </a:rPr>
              <a:t>SCHEDULE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4828031"/>
            <a:ext cx="37947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Highest priority first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5532120"/>
            <a:ext cx="40690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16367" y="5623559"/>
            <a:ext cx="3849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5399"/>
                </a:solidFill>
                <a:latin typeface="Times New Roman"/>
              </a:rPr>
              <a:t>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5971031"/>
            <a:ext cx="379476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Waiting time + statistics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95" y="249631"/>
            <a:ext cx="8311896" cy="1109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481328"/>
            <a:ext cx="11567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Times New Roman"/>
              </a:rP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148840"/>
            <a:ext cx="27432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5488" y="2240280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5399"/>
                </a:solidFill>
                <a:latin typeface="Times New Roman"/>
              </a:rPr>
              <a:t>PATIENT REGISTRATION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87752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000000"/>
                </a:solidFill>
                <a:latin typeface="Times New Roman"/>
              </a:rPr>
              <a:t>ID • Age • Symptoms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657600"/>
            <a:ext cx="27432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3749039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5399"/>
                </a:solidFill>
                <a:latin typeface="Times New Roman"/>
              </a:rPr>
              <a:t>PRIORITY ASSIGNMENT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96512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000000"/>
                </a:solidFill>
                <a:latin typeface="Times New Roman"/>
              </a:rPr>
              <a:t>Emergency level +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2743200"/>
            <a:ext cx="31089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9000" y="283464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5399"/>
                </a:solidFill>
                <a:latin typeface="Times New Roman"/>
              </a:rPr>
              <a:t>MAX-HEAP PRIORITY QUEUE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476932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000000"/>
                </a:solidFill>
                <a:latin typeface="Times New Roman"/>
              </a:rPr>
              <a:t>Insert • </a:t>
            </a:r>
            <a:r>
              <a:rPr sz="1400" b="0" dirty="0" err="1">
                <a:solidFill>
                  <a:srgbClr val="000000"/>
                </a:solidFill>
                <a:latin typeface="Times New Roman"/>
              </a:rPr>
              <a:t>Heapify</a:t>
            </a:r>
            <a:r>
              <a:rPr sz="1400" b="0" dirty="0">
                <a:solidFill>
                  <a:srgbClr val="000000"/>
                </a:solidFill>
                <a:latin typeface="Times New Roman"/>
              </a:rPr>
              <a:t> • Delete highest priority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148840"/>
            <a:ext cx="37947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57952" y="2212848"/>
            <a:ext cx="3575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5399"/>
                </a:solidFill>
                <a:latin typeface="Times New Roman"/>
              </a:rPr>
              <a:t>TREATMENT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587752"/>
            <a:ext cx="3520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000000"/>
                </a:solidFill>
                <a:latin typeface="Times New Roman"/>
              </a:rPr>
              <a:t>Mark treated + remove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657600"/>
            <a:ext cx="37947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07807" y="3749039"/>
            <a:ext cx="3575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5399"/>
                </a:solidFill>
                <a:latin typeface="Times New Roman"/>
              </a:rPr>
              <a:t>REPORTING &amp; STATISTICS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4096512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000000"/>
                </a:solidFill>
                <a:latin typeface="Times New Roman"/>
              </a:rPr>
              <a:t>Waiting time • Priority counts • Daily report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08960" y="2606040"/>
            <a:ext cx="640079" cy="594360"/>
          </a:xfrm>
          <a:prstGeom prst="line">
            <a:avLst/>
          </a:prstGeom>
          <a:ln>
            <a:solidFill>
              <a:srgbClr val="1F5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737360" y="3063240"/>
            <a:ext cx="0" cy="594360"/>
          </a:xfrm>
          <a:prstGeom prst="line">
            <a:avLst/>
          </a:prstGeom>
          <a:ln>
            <a:solidFill>
              <a:srgbClr val="1F5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108960" y="3520440"/>
            <a:ext cx="640079" cy="594360"/>
          </a:xfrm>
          <a:prstGeom prst="line">
            <a:avLst/>
          </a:prstGeom>
          <a:ln>
            <a:solidFill>
              <a:srgbClr val="1F5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858000" y="2606040"/>
            <a:ext cx="640079" cy="594360"/>
          </a:xfrm>
          <a:prstGeom prst="line">
            <a:avLst/>
          </a:prstGeom>
          <a:ln>
            <a:solidFill>
              <a:srgbClr val="1F5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58000" y="3520440"/>
            <a:ext cx="640079" cy="594360"/>
          </a:xfrm>
          <a:prstGeom prst="line">
            <a:avLst/>
          </a:prstGeom>
          <a:ln>
            <a:solidFill>
              <a:srgbClr val="1F5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95" y="249631"/>
            <a:ext cx="8311896" cy="1109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481328"/>
            <a:ext cx="11567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Times New Roman"/>
              </a:rPr>
              <a:t>MODULE 1 : PATIENT REGISTRATION AND PRIORITY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497635"/>
            <a:ext cx="5852160" cy="308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Register patient details and assign a unique Patient ID.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Record patient age and symptoms.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Assign priority based on emergency level.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Store validated patient information for scheduling.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Display patient details for confirmation.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2103120"/>
            <a:ext cx="4663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93408" y="2194560"/>
            <a:ext cx="44439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5399"/>
                </a:solidFill>
                <a:latin typeface="Times New Roman"/>
              </a:rPr>
              <a:t>PATIENT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2542032"/>
            <a:ext cx="43891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ID • Age • Symptoms • Priority</a:t>
            </a:r>
          </a:p>
        </p:txBody>
      </p:sp>
      <p:sp>
        <p:nvSpPr>
          <p:cNvPr id="8" name="Oval 7"/>
          <p:cNvSpPr/>
          <p:nvPr/>
        </p:nvSpPr>
        <p:spPr>
          <a:xfrm>
            <a:off x="7315200" y="3657600"/>
            <a:ext cx="320040" cy="320040"/>
          </a:xfrm>
          <a:prstGeom prst="ellipse">
            <a:avLst/>
          </a:prstGeom>
          <a:solidFill>
            <a:srgbClr val="E0EBF9"/>
          </a:solidFill>
          <a:ln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223760" y="4041648"/>
            <a:ext cx="502920" cy="658368"/>
          </a:xfrm>
          <a:prstGeom prst="roundRect">
            <a:avLst/>
          </a:prstGeom>
          <a:solidFill>
            <a:srgbClr val="E0EBF9"/>
          </a:solidFill>
          <a:ln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9244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5399"/>
                </a:solidFill>
                <a:latin typeface="Times New Roman"/>
              </a:rPr>
              <a:t>EMERGENCY LEVEL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069080"/>
            <a:ext cx="246888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9327" y="4160520"/>
            <a:ext cx="2249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5399"/>
                </a:solidFill>
                <a:latin typeface="Times New Roman"/>
              </a:rPr>
              <a:t>CRITICAL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727448"/>
            <a:ext cx="246888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9327" y="4818888"/>
            <a:ext cx="2249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5399"/>
                </a:solidFill>
                <a:latin typeface="Times New Roman"/>
              </a:rPr>
              <a:t>HIGH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5385816"/>
            <a:ext cx="246888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7" y="5477256"/>
            <a:ext cx="2249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5399"/>
                </a:solidFill>
                <a:latin typeface="Times New Roman"/>
              </a:rPr>
              <a:t>MODERATE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95" y="249631"/>
            <a:ext cx="8311896" cy="1109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481328"/>
            <a:ext cx="11567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Times New Roman"/>
              </a:rPr>
              <a:t>MODULE 2 : HEAP-BASED EMERGENCY PRIORITY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2291412"/>
            <a:ext cx="5760720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Insert each patient into the heap using priority.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Rearrange the heap using </a:t>
            </a:r>
            <a:r>
              <a:rPr sz="2400" dirty="0" err="1"/>
              <a:t>heapify</a:t>
            </a:r>
            <a:r>
              <a:rPr sz="2400" dirty="0"/>
              <a:t> after insertion.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Delete the highest-priority patient after treatment.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Update the waiting list and display the current queue.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Support fast patient retrieval and scheduling.</a:t>
            </a:r>
          </a:p>
        </p:txBody>
      </p:sp>
      <p:sp>
        <p:nvSpPr>
          <p:cNvPr id="28" name="Rounded Rectangle 5">
            <a:extLst>
              <a:ext uri="{FF2B5EF4-FFF2-40B4-BE49-F238E27FC236}">
                <a16:creationId xmlns:a16="http://schemas.microsoft.com/office/drawing/2014/main" id="{16020320-7764-5204-B65A-BF53AF66F4B3}"/>
              </a:ext>
            </a:extLst>
          </p:cNvPr>
          <p:cNvSpPr/>
          <p:nvPr/>
        </p:nvSpPr>
        <p:spPr>
          <a:xfrm>
            <a:off x="6720840" y="2743200"/>
            <a:ext cx="13716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45B6DF-7140-ABC1-851E-14676BB5ADAB}"/>
              </a:ext>
            </a:extLst>
          </p:cNvPr>
          <p:cNvSpPr txBox="1"/>
          <p:nvPr/>
        </p:nvSpPr>
        <p:spPr>
          <a:xfrm>
            <a:off x="6830568" y="2834640"/>
            <a:ext cx="1152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5399"/>
                </a:solidFill>
                <a:latin typeface="Times New Roman"/>
              </a:rPr>
              <a:t>INSERT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72C750-F984-B02D-9DA6-E0812D548952}"/>
              </a:ext>
            </a:extLst>
          </p:cNvPr>
          <p:cNvSpPr txBox="1"/>
          <p:nvPr/>
        </p:nvSpPr>
        <p:spPr>
          <a:xfrm>
            <a:off x="6858000" y="318211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Add patient</a:t>
            </a:r>
          </a:p>
        </p:txBody>
      </p:sp>
      <p:cxnSp>
        <p:nvCxnSpPr>
          <p:cNvPr id="31" name="Connector 8">
            <a:extLst>
              <a:ext uri="{FF2B5EF4-FFF2-40B4-BE49-F238E27FC236}">
                <a16:creationId xmlns:a16="http://schemas.microsoft.com/office/drawing/2014/main" id="{5AFAA8A8-DD8B-13F4-3B51-B0134858FCF4}"/>
              </a:ext>
            </a:extLst>
          </p:cNvPr>
          <p:cNvCxnSpPr/>
          <p:nvPr/>
        </p:nvCxnSpPr>
        <p:spPr>
          <a:xfrm>
            <a:off x="8092440" y="3246120"/>
            <a:ext cx="182879" cy="0"/>
          </a:xfrm>
          <a:prstGeom prst="line">
            <a:avLst/>
          </a:prstGeom>
          <a:ln>
            <a:solidFill>
              <a:srgbClr val="1F5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9">
            <a:extLst>
              <a:ext uri="{FF2B5EF4-FFF2-40B4-BE49-F238E27FC236}">
                <a16:creationId xmlns:a16="http://schemas.microsoft.com/office/drawing/2014/main" id="{7FEC43C6-2081-18AB-34EC-8CFAF8639010}"/>
              </a:ext>
            </a:extLst>
          </p:cNvPr>
          <p:cNvSpPr/>
          <p:nvPr/>
        </p:nvSpPr>
        <p:spPr>
          <a:xfrm>
            <a:off x="8275319" y="2743200"/>
            <a:ext cx="13716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321930-E606-1AED-9852-8ABC49EC5F68}"/>
              </a:ext>
            </a:extLst>
          </p:cNvPr>
          <p:cNvSpPr txBox="1"/>
          <p:nvPr/>
        </p:nvSpPr>
        <p:spPr>
          <a:xfrm>
            <a:off x="8385047" y="2834640"/>
            <a:ext cx="1152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5399"/>
                </a:solidFill>
                <a:latin typeface="Times New Roman"/>
              </a:rPr>
              <a:t>HEAPIFY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A57296-A9B3-1310-6669-2EE10335BB90}"/>
              </a:ext>
            </a:extLst>
          </p:cNvPr>
          <p:cNvSpPr txBox="1"/>
          <p:nvPr/>
        </p:nvSpPr>
        <p:spPr>
          <a:xfrm>
            <a:off x="8412480" y="318211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Restore order</a:t>
            </a:r>
          </a:p>
        </p:txBody>
      </p:sp>
      <p:cxnSp>
        <p:nvCxnSpPr>
          <p:cNvPr id="35" name="Connector 12">
            <a:extLst>
              <a:ext uri="{FF2B5EF4-FFF2-40B4-BE49-F238E27FC236}">
                <a16:creationId xmlns:a16="http://schemas.microsoft.com/office/drawing/2014/main" id="{CEB438E5-03FD-C5FC-373D-560A923F202A}"/>
              </a:ext>
            </a:extLst>
          </p:cNvPr>
          <p:cNvCxnSpPr/>
          <p:nvPr/>
        </p:nvCxnSpPr>
        <p:spPr>
          <a:xfrm>
            <a:off x="9646919" y="3246120"/>
            <a:ext cx="182880" cy="0"/>
          </a:xfrm>
          <a:prstGeom prst="line">
            <a:avLst/>
          </a:prstGeom>
          <a:ln>
            <a:solidFill>
              <a:srgbClr val="1F5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13">
            <a:extLst>
              <a:ext uri="{FF2B5EF4-FFF2-40B4-BE49-F238E27FC236}">
                <a16:creationId xmlns:a16="http://schemas.microsoft.com/office/drawing/2014/main" id="{9E2B1CF9-6234-09DE-B720-C3DD0F42E05C}"/>
              </a:ext>
            </a:extLst>
          </p:cNvPr>
          <p:cNvSpPr/>
          <p:nvPr/>
        </p:nvSpPr>
        <p:spPr>
          <a:xfrm>
            <a:off x="9829800" y="2743200"/>
            <a:ext cx="13716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17E768-5F9A-5B2C-CD0C-68238EB7BAE5}"/>
              </a:ext>
            </a:extLst>
          </p:cNvPr>
          <p:cNvSpPr txBox="1"/>
          <p:nvPr/>
        </p:nvSpPr>
        <p:spPr>
          <a:xfrm>
            <a:off x="9939528" y="2834640"/>
            <a:ext cx="1152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5399"/>
                </a:solidFill>
                <a:latin typeface="Times New Roman"/>
              </a:rPr>
              <a:t>DELETE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069715-2C95-A242-75E9-77C18EA179C8}"/>
              </a:ext>
            </a:extLst>
          </p:cNvPr>
          <p:cNvSpPr txBox="1"/>
          <p:nvPr/>
        </p:nvSpPr>
        <p:spPr>
          <a:xfrm>
            <a:off x="9966960" y="318211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Serve patient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20E4DB-386A-D70D-1DA6-F66A1EFB4D84}"/>
              </a:ext>
            </a:extLst>
          </p:cNvPr>
          <p:cNvSpPr txBox="1"/>
          <p:nvPr/>
        </p:nvSpPr>
        <p:spPr>
          <a:xfrm>
            <a:off x="6766560" y="432511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5399"/>
                </a:solidFill>
                <a:latin typeface="Times New Roman"/>
              </a:rPr>
              <a:t>MAX-HEAP PRIORITY QUEUE</a:t>
            </a:r>
          </a:p>
        </p:txBody>
      </p:sp>
      <p:cxnSp>
        <p:nvCxnSpPr>
          <p:cNvPr id="40" name="Connector 17">
            <a:extLst>
              <a:ext uri="{FF2B5EF4-FFF2-40B4-BE49-F238E27FC236}">
                <a16:creationId xmlns:a16="http://schemas.microsoft.com/office/drawing/2014/main" id="{3E61ED5B-F60F-9F54-895D-3728D04DEDFC}"/>
              </a:ext>
            </a:extLst>
          </p:cNvPr>
          <p:cNvCxnSpPr/>
          <p:nvPr/>
        </p:nvCxnSpPr>
        <p:spPr>
          <a:xfrm flipH="1">
            <a:off x="7863840" y="4873752"/>
            <a:ext cx="1097280" cy="373075"/>
          </a:xfrm>
          <a:prstGeom prst="line">
            <a:avLst/>
          </a:prstGeom>
          <a:ln>
            <a:solidFill>
              <a:srgbClr val="1F5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18">
            <a:extLst>
              <a:ext uri="{FF2B5EF4-FFF2-40B4-BE49-F238E27FC236}">
                <a16:creationId xmlns:a16="http://schemas.microsoft.com/office/drawing/2014/main" id="{5C3C8747-090C-A0A6-B408-D1806FBDE735}"/>
              </a:ext>
            </a:extLst>
          </p:cNvPr>
          <p:cNvCxnSpPr/>
          <p:nvPr/>
        </p:nvCxnSpPr>
        <p:spPr>
          <a:xfrm>
            <a:off x="8961120" y="4873752"/>
            <a:ext cx="1097280" cy="373075"/>
          </a:xfrm>
          <a:prstGeom prst="line">
            <a:avLst/>
          </a:prstGeom>
          <a:ln>
            <a:solidFill>
              <a:srgbClr val="1F5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19">
            <a:extLst>
              <a:ext uri="{FF2B5EF4-FFF2-40B4-BE49-F238E27FC236}">
                <a16:creationId xmlns:a16="http://schemas.microsoft.com/office/drawing/2014/main" id="{B04F155B-A662-F5C7-C358-F6238D44B6CC}"/>
              </a:ext>
            </a:extLst>
          </p:cNvPr>
          <p:cNvCxnSpPr/>
          <p:nvPr/>
        </p:nvCxnSpPr>
        <p:spPr>
          <a:xfrm flipH="1">
            <a:off x="7293254" y="5246827"/>
            <a:ext cx="570586" cy="405993"/>
          </a:xfrm>
          <a:prstGeom prst="line">
            <a:avLst/>
          </a:prstGeom>
          <a:ln>
            <a:solidFill>
              <a:srgbClr val="1F5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20">
            <a:extLst>
              <a:ext uri="{FF2B5EF4-FFF2-40B4-BE49-F238E27FC236}">
                <a16:creationId xmlns:a16="http://schemas.microsoft.com/office/drawing/2014/main" id="{C067495E-7712-C4E5-72F9-E36A19C003FB}"/>
              </a:ext>
            </a:extLst>
          </p:cNvPr>
          <p:cNvCxnSpPr/>
          <p:nvPr/>
        </p:nvCxnSpPr>
        <p:spPr>
          <a:xfrm>
            <a:off x="7863840" y="5246827"/>
            <a:ext cx="570585" cy="405993"/>
          </a:xfrm>
          <a:prstGeom prst="line">
            <a:avLst/>
          </a:prstGeom>
          <a:ln>
            <a:solidFill>
              <a:srgbClr val="1F5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21">
            <a:extLst>
              <a:ext uri="{FF2B5EF4-FFF2-40B4-BE49-F238E27FC236}">
                <a16:creationId xmlns:a16="http://schemas.microsoft.com/office/drawing/2014/main" id="{F91B62BC-FAB9-09AE-978F-C767CE0D6FA2}"/>
              </a:ext>
            </a:extLst>
          </p:cNvPr>
          <p:cNvCxnSpPr/>
          <p:nvPr/>
        </p:nvCxnSpPr>
        <p:spPr>
          <a:xfrm flipH="1">
            <a:off x="9487814" y="5246827"/>
            <a:ext cx="570586" cy="405993"/>
          </a:xfrm>
          <a:prstGeom prst="line">
            <a:avLst/>
          </a:prstGeom>
          <a:ln>
            <a:solidFill>
              <a:srgbClr val="1F5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22">
            <a:extLst>
              <a:ext uri="{FF2B5EF4-FFF2-40B4-BE49-F238E27FC236}">
                <a16:creationId xmlns:a16="http://schemas.microsoft.com/office/drawing/2014/main" id="{A357F434-D916-8464-84FF-BA9CDCED6617}"/>
              </a:ext>
            </a:extLst>
          </p:cNvPr>
          <p:cNvCxnSpPr/>
          <p:nvPr/>
        </p:nvCxnSpPr>
        <p:spPr>
          <a:xfrm>
            <a:off x="10058400" y="5246827"/>
            <a:ext cx="570585" cy="405993"/>
          </a:xfrm>
          <a:prstGeom prst="line">
            <a:avLst/>
          </a:prstGeom>
          <a:ln>
            <a:solidFill>
              <a:srgbClr val="1F5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A94824FD-345D-3BED-BA32-1E1E774AD5D0}"/>
              </a:ext>
            </a:extLst>
          </p:cNvPr>
          <p:cNvSpPr/>
          <p:nvPr/>
        </p:nvSpPr>
        <p:spPr>
          <a:xfrm>
            <a:off x="8750808" y="4663440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B3640D5-3ADE-C34C-61F6-AA1B60E812CB}"/>
              </a:ext>
            </a:extLst>
          </p:cNvPr>
          <p:cNvSpPr txBox="1"/>
          <p:nvPr/>
        </p:nvSpPr>
        <p:spPr>
          <a:xfrm>
            <a:off x="8750808" y="4736592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1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2C93DA0-6562-B24A-7A22-B93F4ED9CDDF}"/>
              </a:ext>
            </a:extLst>
          </p:cNvPr>
          <p:cNvSpPr/>
          <p:nvPr/>
        </p:nvSpPr>
        <p:spPr>
          <a:xfrm>
            <a:off x="7653527" y="5036515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60DB08B-6991-23AC-3D24-B0C01D39B142}"/>
              </a:ext>
            </a:extLst>
          </p:cNvPr>
          <p:cNvSpPr txBox="1"/>
          <p:nvPr/>
        </p:nvSpPr>
        <p:spPr>
          <a:xfrm>
            <a:off x="7653527" y="5109667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AD3FEA6-B1E9-F04D-1236-3965167640CF}"/>
              </a:ext>
            </a:extLst>
          </p:cNvPr>
          <p:cNvSpPr/>
          <p:nvPr/>
        </p:nvSpPr>
        <p:spPr>
          <a:xfrm>
            <a:off x="9848088" y="5036515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2AA3227-FFE8-3C8C-A568-764C713F75B6}"/>
              </a:ext>
            </a:extLst>
          </p:cNvPr>
          <p:cNvSpPr txBox="1"/>
          <p:nvPr/>
        </p:nvSpPr>
        <p:spPr>
          <a:xfrm>
            <a:off x="9848088" y="5109667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3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F34F8C5-5A78-3BE1-A3AF-4E5DC9EC5608}"/>
              </a:ext>
            </a:extLst>
          </p:cNvPr>
          <p:cNvSpPr/>
          <p:nvPr/>
        </p:nvSpPr>
        <p:spPr>
          <a:xfrm>
            <a:off x="7082942" y="5442508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B36984-5EC3-28B1-5222-6BFBD5F128D4}"/>
              </a:ext>
            </a:extLst>
          </p:cNvPr>
          <p:cNvSpPr txBox="1"/>
          <p:nvPr/>
        </p:nvSpPr>
        <p:spPr>
          <a:xfrm>
            <a:off x="7082942" y="5515660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4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8266942-65C3-0EF9-96DF-0495FD057D08}"/>
              </a:ext>
            </a:extLst>
          </p:cNvPr>
          <p:cNvSpPr/>
          <p:nvPr/>
        </p:nvSpPr>
        <p:spPr>
          <a:xfrm>
            <a:off x="8224113" y="5442508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6794152-225A-33C6-9AF7-27914EAAA531}"/>
              </a:ext>
            </a:extLst>
          </p:cNvPr>
          <p:cNvSpPr txBox="1"/>
          <p:nvPr/>
        </p:nvSpPr>
        <p:spPr>
          <a:xfrm>
            <a:off x="8224113" y="5515660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FC6B014-E781-A8DD-C1E6-C4FD783F3A51}"/>
              </a:ext>
            </a:extLst>
          </p:cNvPr>
          <p:cNvSpPr/>
          <p:nvPr/>
        </p:nvSpPr>
        <p:spPr>
          <a:xfrm>
            <a:off x="9277502" y="5442508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F832EC-664D-C9B6-F6B1-BE202880C898}"/>
              </a:ext>
            </a:extLst>
          </p:cNvPr>
          <p:cNvSpPr txBox="1"/>
          <p:nvPr/>
        </p:nvSpPr>
        <p:spPr>
          <a:xfrm>
            <a:off x="9277502" y="5515660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6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6C0F45D6-9BEC-EE2B-96EF-1A790DC66F30}"/>
              </a:ext>
            </a:extLst>
          </p:cNvPr>
          <p:cNvSpPr/>
          <p:nvPr/>
        </p:nvSpPr>
        <p:spPr>
          <a:xfrm>
            <a:off x="10418673" y="5442508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7168820-2E7E-1665-8305-139336429E9A}"/>
              </a:ext>
            </a:extLst>
          </p:cNvPr>
          <p:cNvSpPr txBox="1"/>
          <p:nvPr/>
        </p:nvSpPr>
        <p:spPr>
          <a:xfrm>
            <a:off x="10418673" y="5515660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95" y="249631"/>
            <a:ext cx="8311896" cy="1109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481328"/>
            <a:ext cx="11567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Times New Roman"/>
              </a:rPr>
              <a:t>MODULE 3 : TREATMENT MANAGEMENT, REPORTING AND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458269"/>
            <a:ext cx="603504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Mark patient as treated and remove the patient from the heap.</a:t>
            </a:r>
          </a:p>
          <a:p>
            <a:pPr>
              <a:spcAft>
                <a:spcPts val="9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Display a daily emergency report.</a:t>
            </a:r>
          </a:p>
          <a:p>
            <a:pPr>
              <a:spcAft>
                <a:spcPts val="9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Calculate average waiting time.</a:t>
            </a:r>
          </a:p>
          <a:p>
            <a:pPr>
              <a:spcAft>
                <a:spcPts val="9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Count patients by priority level.</a:t>
            </a:r>
          </a:p>
          <a:p>
            <a:pPr>
              <a:spcAft>
                <a:spcPts val="9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Save reports into a text file for permanent history.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20840" y="2103120"/>
            <a:ext cx="44805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30568" y="2194560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5399"/>
                </a:solidFill>
                <a:latin typeface="Times New Roman"/>
              </a:rPr>
              <a:t>TREATMENT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542032"/>
            <a:ext cx="42062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Mark treated + remove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3383280"/>
            <a:ext cx="44805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30568" y="3474720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5399"/>
                </a:solidFill>
                <a:latin typeface="Times New Roman"/>
              </a:rPr>
              <a:t>STATISTICS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822191"/>
            <a:ext cx="42062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Waiting time + priority counts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4663440"/>
            <a:ext cx="44805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30568" y="4754879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5399"/>
                </a:solidFill>
                <a:latin typeface="Times New Roman"/>
              </a:rPr>
              <a:t>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5102352"/>
            <a:ext cx="42062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Generate + save daily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EF112-6A09-C283-6F48-C73186C54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>
            <a:extLst>
              <a:ext uri="{FF2B5EF4-FFF2-40B4-BE49-F238E27FC236}">
                <a16:creationId xmlns:a16="http://schemas.microsoft.com/office/drawing/2014/main" id="{5D143557-35D4-78CB-2FD0-8CB70DA26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95" y="249631"/>
            <a:ext cx="8311896" cy="11096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835C50-6632-9D35-7DBD-A5CCA10CB6EA}"/>
              </a:ext>
            </a:extLst>
          </p:cNvPr>
          <p:cNvSpPr txBox="1"/>
          <p:nvPr/>
        </p:nvSpPr>
        <p:spPr>
          <a:xfrm>
            <a:off x="4178300" y="1540933"/>
            <a:ext cx="383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E9B37B-5C92-E687-70DC-2DF6F568A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21" y="1685675"/>
            <a:ext cx="4301527" cy="48465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00D3BA-605A-376C-BB39-C27000A4ADC2}"/>
              </a:ext>
            </a:extLst>
          </p:cNvPr>
          <p:cNvSpPr txBox="1"/>
          <p:nvPr/>
        </p:nvSpPr>
        <p:spPr>
          <a:xfrm>
            <a:off x="-889721" y="6532189"/>
            <a:ext cx="5977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 1 Dashboard</a:t>
            </a:r>
            <a:endParaRPr lang="en-IN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98476C-B0B6-E6A6-F6C0-9321B66E54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5652" y="2002598"/>
            <a:ext cx="6129655" cy="42468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1AB2D87-5A20-7683-4700-17FE3F8964F8}"/>
              </a:ext>
            </a:extLst>
          </p:cNvPr>
          <p:cNvSpPr txBox="1"/>
          <p:nvPr/>
        </p:nvSpPr>
        <p:spPr>
          <a:xfrm>
            <a:off x="5087679" y="6362911"/>
            <a:ext cx="65390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"/>
              </a:spcBef>
              <a:buNone/>
            </a:pP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 2 Emergency Max Heap</a:t>
            </a:r>
            <a:endParaRPr lang="en-IN" sz="1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610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BF922-D11A-A664-EBC4-8E007E5B8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>
            <a:extLst>
              <a:ext uri="{FF2B5EF4-FFF2-40B4-BE49-F238E27FC236}">
                <a16:creationId xmlns:a16="http://schemas.microsoft.com/office/drawing/2014/main" id="{46185C31-5FDF-1FF7-A2CE-4D57A44B8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95" y="249631"/>
            <a:ext cx="8311896" cy="11096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46266B-FBF2-A529-511E-FC5E90394DCE}"/>
              </a:ext>
            </a:extLst>
          </p:cNvPr>
          <p:cNvSpPr txBox="1"/>
          <p:nvPr/>
        </p:nvSpPr>
        <p:spPr>
          <a:xfrm>
            <a:off x="4178300" y="1540933"/>
            <a:ext cx="383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D35E9C-1309-7F35-427F-59E2D06EF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21" y="2103475"/>
            <a:ext cx="4596809" cy="2895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FDF9FC-0D81-D127-DE72-DF33A0A206E3}"/>
              </a:ext>
            </a:extLst>
          </p:cNvPr>
          <p:cNvSpPr txBox="1"/>
          <p:nvPr/>
        </p:nvSpPr>
        <p:spPr>
          <a:xfrm>
            <a:off x="-668521" y="5343601"/>
            <a:ext cx="60951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"/>
              </a:spcBef>
              <a:buNone/>
            </a:pP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 3 Emergency Statistics</a:t>
            </a:r>
            <a:endParaRPr lang="en-IN" sz="1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474851-77E1-3A2D-E92B-72362C82A7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063" y="2103475"/>
            <a:ext cx="5876925" cy="29432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A4ABAA-2123-1B85-F8AE-968936F1673E}"/>
              </a:ext>
            </a:extLst>
          </p:cNvPr>
          <p:cNvSpPr txBox="1"/>
          <p:nvPr/>
        </p:nvSpPr>
        <p:spPr>
          <a:xfrm>
            <a:off x="8148527" y="5343601"/>
            <a:ext cx="64300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 4 Hash Table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358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95" y="249631"/>
            <a:ext cx="8311896" cy="1109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481328"/>
            <a:ext cx="11567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Times New Roman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48840"/>
            <a:ext cx="10881360" cy="319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Patient information is registered, validated, and assigned an emergency priority.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A heap-based priority queue maintains the correct treatment order efficiently.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Highest-priority patients are selected first and removed after treatment.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Waiting-time statistics, priority counts, and daily reports provide useful operational summaries.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The project demonstrates how heaps and fundamental C data structures can improve emergency-room scheduling.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95" y="249631"/>
            <a:ext cx="8311896" cy="1109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481328"/>
            <a:ext cx="11567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000000"/>
                </a:solidFill>
                <a:latin typeface="Times New Roman"/>
              </a:rP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7515"/>
            <a:ext cx="10698480" cy="2503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Add dynamic priority adjustment when a patient's condition changes.</a:t>
            </a:r>
          </a:p>
          <a:p>
            <a:pPr>
              <a:spcAft>
                <a:spcPts val="11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Support multiple treatment rooms and resource allocation.</a:t>
            </a:r>
          </a:p>
          <a:p>
            <a:pPr>
              <a:spcAft>
                <a:spcPts val="11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Add graphical waiting-time and priority-distribution charts.</a:t>
            </a:r>
          </a:p>
          <a:p>
            <a:pPr>
              <a:spcAft>
                <a:spcPts val="11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Integrate persistent database storage instead of text-only history.</a:t>
            </a:r>
          </a:p>
          <a:p>
            <a:pPr>
              <a:spcAft>
                <a:spcPts val="11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Extend the system with real-time alerts and a more advanced user interface.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1.png">
            <a:extLst>
              <a:ext uri="{FF2B5EF4-FFF2-40B4-BE49-F238E27FC236}">
                <a16:creationId xmlns:a16="http://schemas.microsoft.com/office/drawing/2014/main" id="{B07D01B0-9B35-9AC1-6091-41163842C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95" y="249631"/>
            <a:ext cx="8311896" cy="11096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3CA764-1A9D-6548-AC69-495889BBFF1D}"/>
              </a:ext>
            </a:extLst>
          </p:cNvPr>
          <p:cNvSpPr txBox="1"/>
          <p:nvPr/>
        </p:nvSpPr>
        <p:spPr>
          <a:xfrm>
            <a:off x="4813300" y="1676400"/>
            <a:ext cx="256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A1DEA9-36A9-2136-E6D5-3882A4077945}"/>
              </a:ext>
            </a:extLst>
          </p:cNvPr>
          <p:cNvSpPr txBox="1"/>
          <p:nvPr/>
        </p:nvSpPr>
        <p:spPr>
          <a:xfrm>
            <a:off x="1600200" y="2565400"/>
            <a:ext cx="862279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Gilboy, N., Tanabe, P., Travers, D., Rosenau, A. M., &amp; Eitel, D. R. (2012). Emergency Severity Index (ESI): A triage tool for emergency department care, Version 4: Implementation handbook. Agency for Healthcare Research and Quality.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GovInfoEmergency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Nurses Association. (2023).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Emergency Severity Index handbook (5th ed.). Emergency Nurses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Association.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(2026). Lecture 18: Heaps and priority queues. Cornell University. �Cornell Computer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ScienceJames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Madison University. (2018).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Heaps and priority queues.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OpenDSA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 (2025). Priority queues. Department of Computer Science, Princeton University.</a:t>
            </a:r>
          </a:p>
        </p:txBody>
      </p:sp>
    </p:spTree>
    <p:extLst>
      <p:ext uri="{BB962C8B-B14F-4D97-AF65-F5344CB8AC3E}">
        <p14:creationId xmlns:p14="http://schemas.microsoft.com/office/powerpoint/2010/main" val="2035284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88CAA2-6D05-8A7B-D3AC-8AD50D995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979" y="0"/>
            <a:ext cx="96860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919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876</Words>
  <Application>Microsoft Office PowerPoint</Application>
  <PresentationFormat>Widescreen</PresentationFormat>
  <Paragraphs>135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shirley david</cp:lastModifiedBy>
  <cp:revision>7</cp:revision>
  <dcterms:created xsi:type="dcterms:W3CDTF">2013-01-27T09:14:16Z</dcterms:created>
  <dcterms:modified xsi:type="dcterms:W3CDTF">2026-09-03T03:35:08Z</dcterms:modified>
  <cp:category/>
</cp:coreProperties>
</file>